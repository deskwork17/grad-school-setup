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Using Claude Code in</a:t>
            </a:r>
          </a:p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the Social Sciences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947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CADCFC"/>
                </a:solidFill>
                <a:latin typeface="Calibri"/>
              </a:rPr>
              <a:t>A working case study in configuring an AI assistant for graduate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September 22, 2026  ·  Prepared by Gabriel Patino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55F8A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A working example, not 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A case study in configuring an AI assistant to sit inside a real graduate workflow — coursework, a thesis project, and a citation library — rather than as a standalone chat window.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555F8A"/>
                </a:solidFill>
                <a:latin typeface="Calibri"/>
              </a:rPr>
              <a:t>The same four pieces that make it useful for coding apply just as well to literature review, citation management, and writing support: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46120"/>
            <a:ext cx="2514600" cy="201168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3447288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E2761"/>
                </a:solidFill>
                <a:latin typeface="Cambria"/>
              </a:rPr>
              <a:t>Standing 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F8A"/>
                </a:solidFill>
                <a:latin typeface="Calibri"/>
              </a:rPr>
              <a:t>Preferences and rules, written 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246120"/>
            <a:ext cx="2514600" cy="201168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4720" y="3447288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11480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E2761"/>
                </a:solidFill>
                <a:latin typeface="Cambria"/>
              </a:rPr>
              <a:t>Reusable procedures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70916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F8A"/>
                </a:solidFill>
                <a:latin typeface="Calibri"/>
              </a:rPr>
              <a:t>Multi-step routines, defined once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246120"/>
            <a:ext cx="2514600" cy="201168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3447288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11480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E2761"/>
                </a:solidFill>
                <a:latin typeface="Cambria"/>
              </a:rPr>
              <a:t>Automatic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70916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F8A"/>
                </a:solidFill>
                <a:latin typeface="Calibri"/>
              </a:rPr>
              <a:t>Safeguards that can't be skipped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3246120"/>
            <a:ext cx="2514600" cy="201168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0" y="3447288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11480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E2761"/>
                </a:solidFill>
                <a:latin typeface="Cambria"/>
              </a:rPr>
              <a:t>Version-controlled backup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709160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F8A"/>
                </a:solidFill>
                <a:latin typeface="Calibri"/>
              </a:rPr>
              <a:t>Every change kept, two 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55F8A"/>
                </a:solidFill>
                <a:latin typeface="Calibri"/>
              </a:rPr>
              <a:t>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The repository root mirrors how the work breaks 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640080"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Folder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761"/>
                          </a:solidFill>
                          <a:latin typeface="Consolas"/>
                        </a:defRPr>
                      </a:pPr>
                      <a:r>
                        <a:t>Fall 2025/, Spring 2026/, Fall 2026/</a:t>
                      </a:r>
                    </a:p>
                  </a:txBody>
                  <a:tcPr anchor="ctr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Coursework by semester</a:t>
                      </a:r>
                    </a:p>
                  </a:txBody>
                  <a:tcPr anchor="ctr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761"/>
                          </a:solidFill>
                          <a:latin typeface="Consolas"/>
                        </a:defRPr>
                      </a:pPr>
                      <a:r>
                        <a:t>Thesis Wiki/</a:t>
                      </a:r>
                    </a:p>
                  </a:txBody>
                  <a:tcPr anchor="ctr" marT="45720" marB="45720">
                    <a:solidFill>
                      <a:srgbClr val="EE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An Obsidian vault of thesis notes, linked to the assistant via a local MCP connection</a:t>
                      </a:r>
                    </a:p>
                  </a:txBody>
                  <a:tcPr anchor="ctr" marT="45720" marB="45720">
                    <a:solidFill>
                      <a:srgbClr val="EEF1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761"/>
                          </a:solidFill>
                          <a:latin typeface="Consolas"/>
                        </a:defRPr>
                      </a:pPr>
                      <a:r>
                        <a:t>Zotero/</a:t>
                      </a:r>
                    </a:p>
                  </a:txBody>
                  <a:tcPr anchor="ctr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A repo-tracked mirror of the citation library's PDFs, organized by collection, kept in sync with Zotero</a:t>
                      </a:r>
                    </a:p>
                  </a:txBody>
                  <a:tcPr anchor="ctr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761"/>
                          </a:solidFill>
                          <a:latin typeface="Consolas"/>
                        </a:defRPr>
                      </a:pPr>
                      <a:r>
                        <a:t>Tools/</a:t>
                      </a:r>
                    </a:p>
                  </a:txBody>
                  <a:tcPr anchor="ctr" marT="45720" marB="45720">
                    <a:solidFill>
                      <a:srgbClr val="EE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Small custom scripts (e.g. a document sanitizer)</a:t>
                      </a:r>
                    </a:p>
                  </a:txBody>
                  <a:tcPr anchor="ctr" marT="45720" marB="45720">
                    <a:solidFill>
                      <a:srgbClr val="EEF1F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761"/>
                          </a:solidFill>
                          <a:latin typeface="Consolas"/>
                        </a:defRPr>
                      </a:pPr>
                      <a:r>
                        <a:t>Last session/</a:t>
                      </a:r>
                    </a:p>
                  </a:txBody>
                  <a:tcPr anchor="ctr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Dated session logs — the continuity thread between sessions and machines</a:t>
                      </a:r>
                    </a:p>
                  </a:txBody>
                  <a:tcPr anchor="ctr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761"/>
                          </a:solidFill>
                          <a:latin typeface="Consolas"/>
                        </a:defRPr>
                      </a:pPr>
                      <a:r>
                        <a:t>grant stuff/</a:t>
                      </a:r>
                    </a:p>
                  </a:txBody>
                  <a:tcPr anchor="ctr" marT="45720" marB="45720">
                    <a:solidFill>
                      <a:srgbClr val="EE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E2761"/>
                          </a:solidFill>
                          <a:latin typeface="Calibri"/>
                        </a:defRPr>
                      </a:pPr>
                      <a:r>
                        <a:t>Sensitive financial documents, deliberately excluded from git and cloud backup</a:t>
                      </a:r>
                    </a:p>
                  </a:txBody>
                  <a:tcPr anchor="ctr" marT="45720" marB="45720"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63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55F8A"/>
                </a:solidFill>
                <a:latin typeface="Calibri"/>
              </a:rPr>
              <a:t>A hidden .claude/ folder holds the assistant's own config (hooks, commands, skills) — gitignored, so it must be rebuilt on any new machine.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55F8A"/>
                </a:solidFill>
                <a:latin typeface="Calibri"/>
              </a:rPr>
              <a:t>STANDING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CLAUDE.md: read before anything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A plain markdown file the assistant reads at the start of every session. Preferences and conventions are written once instead of re-explained in every conversation.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5212080" cy="32918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ADCFC"/>
                </a:solidFill>
                <a:latin typeface="Consolas"/>
              </a:rPr>
              <a:t>~/.claude/CLAUDE.md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Applies to every project on the machine. This is where personal working style lives — tone, defaults, safety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651760"/>
            <a:ext cx="5212080" cy="329184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9718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E2761"/>
                </a:solidFill>
                <a:latin typeface="Cambria"/>
              </a:rPr>
              <a:t>Project-level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52044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5F8A"/>
                </a:solidFill>
                <a:latin typeface="Consolas"/>
              </a:rPr>
              <a:t>&lt;repo&gt;/CLAUDE.md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02336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E2761"/>
                </a:solidFill>
                <a:latin typeface="Calibri"/>
              </a:rPr>
              <a:t>Overrides or adds to the global file for one project only. This repo doesn't need one — the global file already covers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72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55F8A"/>
                </a:solidFill>
                <a:latin typeface="Calibri"/>
              </a:rPr>
              <a:t>The more specific layer wins.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55F8A"/>
                </a:solidFill>
                <a:latin typeface="Calibri"/>
              </a:rPr>
              <a:t>STANDING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What the global file actually contains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64792"/>
            <a:ext cx="22768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2761"/>
                </a:solidFill>
                <a:latin typeface="Cambria"/>
              </a:rPr>
              <a:t>Who the user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77440"/>
            <a:ext cx="22768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55F8A"/>
                </a:solidFill>
                <a:latin typeface="Calibri"/>
              </a:rPr>
              <a:t>A personal research directory, not a software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19272" y="160020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3864" y="1764792"/>
            <a:ext cx="22768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2761"/>
                </a:solidFill>
                <a:latin typeface="Cambria"/>
              </a:rPr>
              <a:t>Communication style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864" y="2377440"/>
            <a:ext cx="22768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55F8A"/>
                </a:solidFill>
                <a:latin typeface="Calibri"/>
              </a:rPr>
              <a:t>Concise by default; match length to the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160020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764792"/>
            <a:ext cx="22768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2761"/>
                </a:solidFill>
                <a:latin typeface="Cambria"/>
              </a:rPr>
              <a:t>Document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2377440"/>
            <a:ext cx="22768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55F8A"/>
                </a:solidFill>
                <a:latin typeface="Calibri"/>
              </a:rPr>
              <a:t>Publish shareable write-ups; preserve the user's own wording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0536" y="160020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1764792"/>
            <a:ext cx="22768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2761"/>
                </a:solidFill>
                <a:latin typeface="Cambria"/>
              </a:rPr>
              <a:t>File conventions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2377440"/>
            <a:ext cx="22768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55F8A"/>
                </a:solidFill>
                <a:latin typeface="Calibri"/>
              </a:rPr>
              <a:t>Don't create files unless asked; naming rules for PDFs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959352"/>
            <a:ext cx="22768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2761"/>
                </a:solidFill>
                <a:latin typeface="Cambria"/>
              </a:rPr>
              <a:t>Tool-install discipline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572000"/>
            <a:ext cx="22768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55F8A"/>
                </a:solidFill>
                <a:latin typeface="Calibri"/>
              </a:rPr>
              <a:t>Check what's installed first; log new installs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9272" y="379476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3864" y="3959352"/>
            <a:ext cx="22768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2761"/>
                </a:solidFill>
                <a:latin typeface="Cambria"/>
              </a:rPr>
              <a:t>Safety &amp; reversibility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4" y="4572000"/>
            <a:ext cx="22768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55F8A"/>
                </a:solidFill>
                <a:latin typeface="Calibri"/>
              </a:rPr>
              <a:t>Prefer reversible actions; confirm before destructive ones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9904" y="379476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3959352"/>
            <a:ext cx="22768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E2761"/>
                </a:solidFill>
                <a:latin typeface="Cambria"/>
              </a:rPr>
              <a:t>Document-reading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4572000"/>
            <a:ext cx="227685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55F8A"/>
                </a:solidFill>
                <a:latin typeface="Calibri"/>
              </a:rPr>
              <a:t>Read sources in full; verify coverage afterward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0536" y="379476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5128" y="3977640"/>
            <a:ext cx="227685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Machine-specific detail (install paths, credentials) lives separately in machine_setup.md — kept out so CLAUDE.md stays portable.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55F8A"/>
                </a:solidFill>
                <a:latin typeface="Calibri"/>
              </a:rPr>
              <a:t>REUSABLE PROCEDURES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Skills: written once, loaded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E2761"/>
                </a:solidFill>
                <a:latin typeface="Calibri"/>
              </a:rPr>
              <a:t>A skill is a written procedure the assistant loads when a task matches its description — a multi-step process defined once instead of re-explained every time it comes 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06040"/>
            <a:ext cx="5212080" cy="329184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Consolas"/>
              </a:rPr>
              <a:t>pdf-research-workflow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4572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761"/>
                </a:solidFill>
                <a:latin typeface="Calibri"/>
              </a:rPr>
              <a:t>Converts scanned PDFs to searchable text, generates Markdown transcripts, and enforces a naming convention (Last Name, First Name, Title, Year). Any PDF folder gets a sibling “&lt;folder&gt; mk” subfolder of Markdown copies, kept in sync as the folder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606040"/>
            <a:ext cx="5212080" cy="32918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8803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onsolas"/>
              </a:rPr>
              <a:t>sanitize-document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429000"/>
            <a:ext cx="4572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Strips hidden, leakable metadata before a document is shared — author info, tracked changes, comments, embedded files. Runs as a script, never opens the file's contents itself; always writes a separate sanitized copy and recycles (never permanently deletes) the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55F8A"/>
                </a:solidFill>
                <a:latin typeface="Calibri"/>
              </a:rPr>
              <a:t>SESSION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Slash commands: /end in one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E2761"/>
                </a:solidFill>
                <a:latin typeface="Calibri"/>
              </a:rPr>
              <a:t>A markdown file of instructions, triggered by typing /name, that the assistant follows on demand.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67712"/>
            <a:ext cx="9966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761"/>
                </a:solidFill>
                <a:latin typeface="Calibri"/>
              </a:rPr>
              <a:t>Reconcile Zotero, the repo mirror, and the Obsidian vault against each other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9864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926080"/>
            <a:ext cx="9966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761"/>
                </a:solidFill>
                <a:latin typeface="Calibri"/>
              </a:rPr>
              <a:t>Update the setup documentation (claudereadme.md)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584448"/>
            <a:ext cx="9966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761"/>
                </a:solidFill>
                <a:latin typeface="Calibri"/>
              </a:rPr>
              <a:t>Write a dated entry to the Last session log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242816"/>
            <a:ext cx="9966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761"/>
                </a:solidFill>
                <a:latin typeface="Calibri"/>
              </a:rPr>
              <a:t>Commit and push the changes to GitHub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87375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901184"/>
            <a:ext cx="9966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761"/>
                </a:solidFill>
                <a:latin typeface="Calibri"/>
              </a:rPr>
              <a:t>Sync the folder to Google Drive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5321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559552"/>
            <a:ext cx="9966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2761"/>
                </a:solidFill>
                <a:latin typeface="Calibri"/>
              </a:rPr>
              <a:t>Report back what happened, including anything that failed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636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55F8A"/>
                </a:solidFill>
                <a:latin typeface="Calibri"/>
              </a:rPr>
              <a:t>Six manual steps a person eventually starts skipping, collapsed into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55F8A"/>
                </a:solidFill>
                <a:latin typeface="Calibri"/>
              </a:rPr>
              <a:t>AUTOMATION THAT CAN'T BE SKIPPED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E2761"/>
                </a:solidFill>
                <a:latin typeface="Calibri"/>
              </a:rPr>
              <a:t>A small script the tool runs automatically on a specific event — not something the assistant chooses to do, which is the 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5212080" cy="356616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87752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Cambria"/>
              </a:rPr>
              <a:t>Session-start sync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55F8A"/>
                </a:solidFill>
                <a:latin typeface="Calibri"/>
              </a:rPr>
              <a:t>Runs at the start of every session; reports all three, every time: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761"/>
                </a:solidFill>
                <a:latin typeface="Calibri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761"/>
                </a:solidFill>
                <a:latin typeface="Calibri"/>
              </a:rPr>
              <a:t>GitHub commits this machine is missing → pulls automatically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761"/>
                </a:solidFill>
                <a:latin typeface="Calibr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761"/>
                </a:solidFill>
                <a:latin typeface="Calibri"/>
              </a:rPr>
              <a:t>Whether the Google Drive backup has drifted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974336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761"/>
                </a:solidFill>
                <a:latin typeface="Calibr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74336"/>
            <a:ext cx="4343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E2761"/>
                </a:solidFill>
                <a:latin typeface="Calibri"/>
              </a:rPr>
              <a:t>New PDFs since last session → flags for citation/note follow-up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331720"/>
            <a:ext cx="5212080" cy="35661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87752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Read-verification hook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15468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Every third document read in a session, the assistant is forced to stop and confirm it actually read the last three in full — a direct backstop against fabricating or summarizing content it never read. Matters most in research, where getting a source wrong is costly.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55F8A"/>
                </a:solidFill>
                <a:latin typeface="Calibri"/>
              </a:rPr>
              <a:t>BACKUP, 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Version control: Git +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E2761"/>
                </a:solidFill>
                <a:latin typeface="Calibri"/>
              </a:rPr>
              <a:t>The whole folder is a git repository, pushed to a private GitHub repo — a complete, timestamped history of every tracked file, with the ability to step back to any earlier version.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06040"/>
            <a:ext cx="5212080" cy="246888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Cambria"/>
              </a:rPr>
              <a:t>Real undo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761"/>
                </a:solidFill>
                <a:latin typeface="Calibri"/>
              </a:rPr>
              <a:t>A bad edit, an accidental overwrite, or a botched reorganization can be reverted — nothing is silently, permanently lost.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606040"/>
            <a:ext cx="5212080" cy="246888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8803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Cambria"/>
              </a:rPr>
              <a:t>Multi-machine continuity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42900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E2761"/>
                </a:solidFill>
                <a:latin typeface="Calibri"/>
              </a:rPr>
              <a:t>The same repository is worked from a desktop and a laptop; pushing from one and pulling on the other keeps both current.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555F8A"/>
                </a:solidFill>
                <a:latin typeface="Calibri"/>
              </a:rPr>
              <a:t>A .gitignore file excludes local runtime configuration, files over GitHub's 100MB limit, and sensitive financial documents that should never leave the local machine or its backups.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55F8A"/>
                </a:solidFill>
                <a:latin typeface="Calibri"/>
              </a:rPr>
              <a:t>BACKUP, 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Secondary backup: Google Drive mirror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E2761"/>
                </a:solidFill>
                <a:latin typeface="Calibri"/>
              </a:rPr>
              <a:t>A second, fully independent copy of the folder lives on Google Drive, kept current with a command-line tool called rclone — separate from git, serving a different purpose.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7860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No file-size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F8A"/>
                </a:solidFill>
                <a:latin typeface="Calibri"/>
              </a:rPr>
              <a:t>GitHub refuses files over 100MB; Drive doesn't care.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37744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57860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A second, independent 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15468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F8A"/>
                </a:solidFill>
                <a:latin typeface="Calibri"/>
              </a:rPr>
              <a:t>Different infrastructure than GitHub entirely.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4340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4456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Human-browsable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F8A"/>
                </a:solidFill>
                <a:latin typeface="Calibri"/>
              </a:rPr>
              <a:t>An ordinary Drive folder — viewable from a phone, no git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343400"/>
            <a:ext cx="5212080" cy="178308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54456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Copies, never deletes  — updated this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12064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761"/>
                </a:solidFill>
                <a:latin typeface="Calibri"/>
              </a:rPr>
              <a:t>rclone copy only adds or updates — nothing is ever removed from Drive automatically.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BACKUP, PART TWO — WHAT CHANGED THIS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Lesson learned: why “copy,” not “sync”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1E2761"/>
                </a:solidFill>
                <a:latin typeface="Cambria"/>
              </a:rPr>
              <a:t>161 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1E2761"/>
                </a:solidFill>
                <a:latin typeface="Calibri"/>
              </a:rPr>
              <a:t>PDF deleted from the Drive mirror by a routine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1783080"/>
            <a:ext cx="749807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rclone sync mirrors the destination to exactly match the source. One machine had never downloaded its own local copy of a Drive-only thesis PDF (too large for GitHub by design) — so a sync run read that absence as “this file shouldn't exist” and deleted it from Drive.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246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CADCFC"/>
                </a:solidFill>
                <a:latin typeface="Calibri"/>
              </a:rPr>
              <a:t>Recoverable from Drive's trash — but the fix needed to be structural, not a one-off cleanup.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110642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2761"/>
                </a:solidFill>
                <a:latin typeface="Cambria"/>
              </a:rPr>
              <a:t>Standing rule, added 2026-09-22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E2761"/>
                </a:solidFill>
                <a:latin typeface="Calibri"/>
              </a:rPr>
              <a:t>Nothing is ever deleted from the Drive mirror without asking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55F8A"/>
                </a:solidFill>
                <a:latin typeface="Calibri"/>
              </a:rPr>
              <a:t>Every machine now runs rclone copy, which only adds or updates files. Anything that exists on Drive but not locally is listed for the user to decide about — never removed on the assistant's own judgment.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55F8A"/>
                </a:solidFill>
                <a:latin typeface="Calibri"/>
              </a:rPr>
              <a:t>MULTI-MACHINE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Working across two machines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E2761"/>
                </a:solidFill>
                <a:latin typeface="Calibri"/>
              </a:rPr>
              <a:t>The same directory is worked on from a desktop and a laptop: how does each machine know what changed on the other, and how does the assistant's own configuration stay equivalent on both?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48716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The session-start hook pulls automatically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89864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F8A"/>
                </a:solidFill>
                <a:latin typeface="Calibri"/>
              </a:rPr>
              <a:t>Opening the assistant on either machine checks GitHub first and catches up if the other machine pushed since — no manual git pull.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72160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The Last session log is the continuity thread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1330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F8A"/>
                </a:solidFill>
                <a:latin typeface="Calibri"/>
              </a:rPr>
              <a:t>Git only carries file contents, not the assistant's own configuration or narrative context, so each session's summary lands in a plain, git-tracked log.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95604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A portable setup spec keeps configurations matched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36752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5F8A"/>
                </a:solidFill>
                <a:latin typeface="Calibri"/>
              </a:rPr>
              <a:t>Hooks, skills, and commands live in the gitignored .claude/ folder and don't transfer via git — claudereadme.md documents the full setup so a new machine can be brought up to match.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55F8A"/>
                </a:solidFill>
                <a:latin typeface="Calibri"/>
              </a:rPr>
              <a:t>ARCHITECTURE AND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How the pieces connect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468880" cy="502920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CLAUDE.md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468880" cy="502920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machine_setup.md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555F8A"/>
                </a:solidFill>
                <a:latin typeface="Calibri"/>
              </a:rPr>
              <a:t>Global, per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691640"/>
            <a:ext cx="2468880" cy="502920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Hooks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286000"/>
            <a:ext cx="2468880" cy="502920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880360"/>
            <a:ext cx="2468880" cy="502920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Slash commands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42900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1">
                <a:solidFill>
                  <a:srgbClr val="555F8A"/>
                </a:solidFill>
                <a:latin typeface="Calibri"/>
              </a:rPr>
              <a:t>.claude/ per project, gitignored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783080" y="3931920"/>
            <a:ext cx="457200" cy="365760"/>
          </a:xfrm>
          <a:prstGeom prst="down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4434840" y="3931920"/>
            <a:ext cx="457200" cy="365760"/>
          </a:xfrm>
          <a:prstGeom prst="down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63040" y="4434840"/>
            <a:ext cx="420624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FFFFFF"/>
                </a:solidFill>
                <a:latin typeface="Calibri"/>
              </a:rPr>
              <a:t>Claude Code session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337560" y="5074920"/>
            <a:ext cx="457200" cy="365760"/>
          </a:xfrm>
          <a:prstGeom prst="down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5532120"/>
            <a:ext cx="6035040" cy="5943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Repo: coursework, Zotero mirror, Thesis Wiki, Tools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03720" y="5623560"/>
            <a:ext cx="457200" cy="320040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525780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GitHub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594360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E2761"/>
                </a:solidFill>
                <a:latin typeface="Calibri"/>
              </a:rPr>
              <a:t>Google Drive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903720" y="5989320"/>
            <a:ext cx="457200" cy="320040"/>
          </a:xfrm>
          <a:prstGeom prst="right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4434840"/>
            <a:ext cx="2103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555F8A"/>
                </a:solidFill>
                <a:latin typeface="Calibri"/>
              </a:rPr>
              <a:t>Global rules set behavior everywhere; project hooks/skills/commands add this repo's automation; everything the session touches backs up two independent ways.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55F8A"/>
                </a:solidFill>
                <a:latin typeface="Calibri"/>
              </a:rPr>
              <a:t>ARCHITECTURE AND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Session start to session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554480"/>
            <a:ext cx="5943600" cy="47548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Session starts</a:t>
            </a:r>
          </a:p>
        </p:txBody>
      </p:sp>
      <p:sp>
        <p:nvSpPr>
          <p:cNvPr id="5" name="Down Arrow 4"/>
          <p:cNvSpPr/>
          <p:nvPr/>
        </p:nvSpPr>
        <p:spPr>
          <a:xfrm>
            <a:off x="5852160" y="2034540"/>
            <a:ext cx="320040" cy="128016"/>
          </a:xfrm>
          <a:prstGeom prst="down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08960" y="2157984"/>
            <a:ext cx="5943600" cy="475488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E2761"/>
                </a:solidFill>
                <a:latin typeface="Calibri"/>
              </a:rPr>
              <a:t>SessionStart hook — pull if behind, check Drive drift, flag new PDFs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52160" y="2638044"/>
            <a:ext cx="320040" cy="128016"/>
          </a:xfrm>
          <a:prstGeom prst="down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960" y="2761488"/>
            <a:ext cx="5943600" cy="475488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E2761"/>
                </a:solidFill>
                <a:latin typeface="Calibri"/>
              </a:rPr>
              <a:t>Work happens — read-verification hook checks every 3rd document read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3241548"/>
            <a:ext cx="320040" cy="128016"/>
          </a:xfrm>
          <a:prstGeom prst="down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08960" y="3364992"/>
            <a:ext cx="5943600" cy="475488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/end command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852160" y="3845052"/>
            <a:ext cx="320040" cy="128016"/>
          </a:xfrm>
          <a:prstGeom prst="down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08960" y="3968496"/>
            <a:ext cx="5943600" cy="475488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E2761"/>
                </a:solidFill>
                <a:latin typeface="Calibri"/>
              </a:rPr>
              <a:t>Reconcile Zotero, repo mirror, Obsidian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852160" y="4448556"/>
            <a:ext cx="320040" cy="128016"/>
          </a:xfrm>
          <a:prstGeom prst="down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08960" y="4572000"/>
            <a:ext cx="5943600" cy="475488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E2761"/>
                </a:solidFill>
                <a:latin typeface="Calibri"/>
              </a:rPr>
              <a:t>Update claudereadme.md + write Last session log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852160" y="5052060"/>
            <a:ext cx="320040" cy="128016"/>
          </a:xfrm>
          <a:prstGeom prst="down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08960" y="5175504"/>
            <a:ext cx="5943600" cy="475488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E2761"/>
                </a:solidFill>
                <a:latin typeface="Calibri"/>
              </a:rPr>
              <a:t>Commit and push to GitHub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52160" y="5655564"/>
            <a:ext cx="320040" cy="128016"/>
          </a:xfrm>
          <a:prstGeom prst="downArrow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08960" y="5779008"/>
            <a:ext cx="5943600" cy="475488"/>
          </a:xfrm>
          <a:prstGeom prst="roundRect">
            <a:avLst>
              <a:gd name="adj" fmla="val 10000"/>
            </a:avLst>
          </a:prstGeom>
          <a:solidFill>
            <a:srgbClr val="EE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1E2761"/>
                </a:solidFill>
                <a:latin typeface="Calibri"/>
              </a:rPr>
              <a:t>Sync to Google Drive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55F8A"/>
                </a:solidFill>
                <a:latin typeface="Calibri"/>
              </a:rPr>
              <a:t>FOR YOUR OWN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0881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E2761"/>
                </a:solidFill>
                <a:latin typeface="Calibri"/>
              </a:rPr>
              <a:t>None of this requires being a programmer — everything above is plain text an assistant reads and follows, not compiled software.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94560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7627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A standing instructions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F8A"/>
                </a:solidFill>
                <a:latin typeface="Calibri"/>
              </a:rPr>
              <a:t>Write preferences, conventions, and safety rules down once instead of repeating them every session.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035808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Skills for repeatable procedures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35584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F8A"/>
                </a:solidFill>
                <a:latin typeface="Calibri"/>
              </a:rPr>
              <a:t>Anything done the same way more than twice is worth writing down as a named procedure.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77056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5876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Hooks for things that shouldn't be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19709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F8A"/>
                </a:solidFill>
                <a:latin typeface="Calibri"/>
              </a:rPr>
              <a:t>Automatic checks that don't depend on remembering to ask.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718304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00016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A slash command for session wrap-up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03834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F8A"/>
                </a:solidFill>
                <a:latin typeface="Calibri"/>
              </a:rPr>
              <a:t>Collapsing “update notes, log what happened, back everything up” into one step makes it far more likely to happen.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5559552"/>
            <a:ext cx="411480" cy="4114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54126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Version-controlled backup, plus one independent 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7959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55F8A"/>
                </a:solidFill>
                <a:latin typeface="Calibri"/>
              </a:rPr>
              <a:t>Git-style history for text, and a separate cloud mirror for large files and redundancy.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880360"/>
            <a:ext cx="9875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CADCFC"/>
                </a:solidFill>
                <a:latin typeface="Calibri"/>
              </a:rPr>
              <a:t>A companion file is planned: a downloadable setup guide your own Claude can read and act on directly — it interviews you about your own workflow (file types, backup preferences, existing tools) before adopting any piece of this setup, rather than replicating it wholesale.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FFFFF"/>
                </a:solidFill>
                <a:latin typeface="Calibri"/>
              </a:rPr>
              <a:t>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